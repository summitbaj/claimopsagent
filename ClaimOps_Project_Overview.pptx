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ClaimOps Agent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AI-Powered Claims Intelligence Platform</a:t>
            </a:r>
          </a:p>
          <a:p>
            <a:r>
              <a:t>Project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ClaimOps Agent is an intelligent autonomous assistant designed to revolutionize healthcare claims processing.</a:t>
            </a:r>
          </a:p>
          <a:p>
            <a:pPr>
              <a:defRPr sz="1800"/>
            </a:pPr>
            <a:r>
              <a:t>It acts as a force multiplier for billing teams, automating repetitive checks and providing instant expertise.</a:t>
            </a:r>
          </a:p>
          <a:p>
            <a:pPr>
              <a:defRPr sz="1800"/>
            </a:pPr>
            <a:r>
              <a:t>Key capabilities include real-time claim prediction, automated SOP guidance, and interactive data analytics.</a:t>
            </a:r>
          </a:p>
          <a:p>
            <a:pPr>
              <a:defRPr sz="1800"/>
            </a:pPr>
            <a:r>
              <a:t>The system integrates seamlessly with Microsoft Dataverse to analyze live claim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High Denial Rates: Simple errors (typos, coding mismatches) cause significant revenue loss.</a:t>
            </a:r>
          </a:p>
          <a:p>
            <a:pPr>
              <a:defRPr sz="1800"/>
            </a:pPr>
            <a:r>
              <a:t>Information Overload: Billing rules change frequently; finding the right SOP takes time.</a:t>
            </a:r>
          </a:p>
          <a:p>
            <a:pPr>
              <a:defRPr sz="1800"/>
            </a:pPr>
            <a:r>
              <a:t>Manual Fatigue: Reviewing claims line-by-line is tedious and error-prone.</a:t>
            </a:r>
          </a:p>
          <a:p>
            <a:pPr>
              <a:defRPr sz="1800"/>
            </a:pPr>
            <a:r>
              <a:t>Fragmented Data: Insights are buried across different systems (EHR, Payer Portals, Spreadsheets).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Solution: The ClaimOps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Predictive Analysis: AI reviews claims against historical patterns to predict Pass/Fail outcomes before submission.</a:t>
            </a:r>
          </a:p>
          <a:p>
            <a:pPr>
              <a:defRPr sz="1800"/>
            </a:pPr>
            <a:r>
              <a:t>Intelligent RAG: 'Talk to your SOPs' - instant answers from billing manuals and guidelines.</a:t>
            </a:r>
          </a:p>
          <a:p>
            <a:pPr>
              <a:defRPr sz="1800"/>
            </a:pPr>
            <a:r>
              <a:t>Automated Correction: Self-healing logic to fix common data entry errors (e.g., mismatched status codes).</a:t>
            </a:r>
          </a:p>
          <a:p>
            <a:pPr>
              <a:defRPr sz="1800"/>
            </a:pPr>
            <a:r>
              <a:t>Context-Aware Chat: A conversational interface that understands specific claims and user intent.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Backend: Python (FastAPI) for high-performance API services.</a:t>
            </a:r>
          </a:p>
          <a:p>
            <a:pPr>
              <a:defRPr sz="1800"/>
            </a:pPr>
            <a:r>
              <a:t>AI/LLM: LangChain orchestration with OpenAI/Groq models.</a:t>
            </a:r>
          </a:p>
          <a:p>
            <a:pPr>
              <a:defRPr sz="1800"/>
            </a:pPr>
            <a:r>
              <a:t>Vector Database: ChromaDB for local document embeddings and RAG.</a:t>
            </a:r>
          </a:p>
          <a:p>
            <a:pPr>
              <a:defRPr sz="1800"/>
            </a:pPr>
            <a:r>
              <a:t>Frontend: React with TailwindCSS for a modern, responsive UI.</a:t>
            </a:r>
          </a:p>
          <a:p>
            <a:pPr>
              <a:defRPr sz="1800"/>
            </a:pPr>
            <a:r>
              <a:t>Integration: Microsoft Dataverse (Dynamics 365) via Azure Identity for enterprise-grade data access.</a:t>
            </a:r>
          </a:p>
          <a:p>
            <a:pPr>
              <a:defRPr sz="1800"/>
            </a:pPr>
            <a:r>
              <a:t>Security: Role-based access and secure token handling.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 Dive: AI-Powered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Goal: Turn raw data into actionable executive insights.</a:t>
            </a:r>
          </a:p>
          <a:p>
            <a:pPr>
              <a:defRPr sz="1800"/>
            </a:pPr>
            <a:r>
              <a:t>1. Data Retrieval: Fetches raw claim records via Dataverse API.</a:t>
            </a:r>
          </a:p>
          <a:p>
            <a:pPr>
              <a:defRPr sz="1800"/>
            </a:pPr>
            <a:r>
              <a:t>2. Aggregation: Pandas library calculates detailed metrics (Pass/Fail rates, Payer performance).</a:t>
            </a:r>
          </a:p>
          <a:p>
            <a:pPr>
              <a:defRPr sz="1800"/>
            </a:pPr>
            <a:r>
              <a:t>3. Narrative Generation: LLM analyzes the statistical context to write a human-readable summary.</a:t>
            </a:r>
          </a:p>
          <a:p>
            <a:pPr>
              <a:defRPr sz="1800"/>
            </a:pPr>
            <a:r>
              <a:t>4. Output: Delivers both hard numbers (Charts) and qualitative explanation (AI Narrative).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 Dive: Prediction Engine (ReAct)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Trigger: User requests analysis for a Claim ID.</a:t>
            </a:r>
          </a:p>
          <a:p>
            <a:pPr>
              <a:defRPr sz="1800"/>
            </a:pPr>
            <a:r>
              <a:t>1. Status Check: fast-fail if claim is already PAID (Optimization).</a:t>
            </a:r>
          </a:p>
          <a:p>
            <a:pPr>
              <a:defRPr sz="1800"/>
            </a:pPr>
            <a:r>
              <a:t>2. Data Gathering: Autonomous tools fetch Service Lines, Patient Info, and Historical Claims.</a:t>
            </a:r>
          </a:p>
          <a:p>
            <a:pPr>
              <a:defRPr sz="1800"/>
            </a:pPr>
            <a:r>
              <a:t>3. Pattern Recognition: Agent compares current claim against known failure patterns from history.</a:t>
            </a:r>
          </a:p>
          <a:p>
            <a:pPr>
              <a:defRPr sz="1800"/>
            </a:pPr>
            <a:r>
              <a:t>4. Reasoning: 'Chain of Thought' validates procedure codes, modifiers, and amounts.</a:t>
            </a:r>
          </a:p>
          <a:p>
            <a:pPr>
              <a:defRPr sz="1800"/>
            </a:pPr>
            <a:r>
              <a:t>5. Safety Net: Robust Regex parsing ensures valid JSON output even from verbose models.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 Dive: Context-Aware Chat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Architecture: Router-based design with Memory.</a:t>
            </a:r>
          </a:p>
          <a:p>
            <a:pPr>
              <a:defRPr sz="1800"/>
            </a:pPr>
            <a:r>
              <a:t>1. Intent Classifier: Analyzes Query + History (Last 6 turns) to categorize intent (Analysis vs Knowledge vs Chat).</a:t>
            </a:r>
          </a:p>
          <a:p>
            <a:pPr>
              <a:defRPr sz="1800"/>
            </a:pPr>
            <a:r>
              <a:t>2. Context Resolution: Uses history to understand pronouns like 'it' or 'that claim'.</a:t>
            </a:r>
          </a:p>
          <a:p>
            <a:pPr>
              <a:defRPr sz="1800"/>
            </a:pPr>
            <a:r>
              <a:t>3. Execution Paths:</a:t>
            </a:r>
          </a:p>
          <a:p>
            <a:pPr>
              <a:defRPr sz="1800"/>
            </a:pPr>
            <a:r>
              <a:t>   - Knowledge Base: Vector Search (ChromaDB) -&gt; RAG Answer.</a:t>
            </a:r>
          </a:p>
          <a:p>
            <a:pPr>
              <a:defRPr sz="1800"/>
            </a:pPr>
            <a:r>
              <a:t>   - Analysis: Delegated to Prediction Chain.</a:t>
            </a:r>
          </a:p>
          <a:p>
            <a:pPr>
              <a:defRPr sz="1800"/>
            </a:pPr>
            <a:r>
              <a:t>   - General: Conversational history response.</a:t>
            </a:r>
          </a:p>
          <a:p>
            <a:pPr>
              <a:defRPr sz="1800"/>
            </a:pPr>
            <a:r>
              <a:t>4. Formatting: Enriches response with Patient &amp; Insurance details for context.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                             [React UI]</a:t>
            </a:r>
          </a:p>
          <a:p>
            <a:pPr>
              <a:defRPr sz="1800"/>
            </a:pPr>
            <a:r>
              <a:t>                                 |</a:t>
            </a:r>
          </a:p>
          <a:p>
            <a:pPr>
              <a:defRPr sz="1800"/>
            </a:pPr>
            <a:r>
              <a:t>                          [FastAPI Gateway]</a:t>
            </a:r>
          </a:p>
          <a:p>
            <a:pPr>
              <a:defRPr sz="1800"/>
            </a:pPr>
            <a:r>
              <a:t>                                 |</a:t>
            </a:r>
          </a:p>
          <a:p>
            <a:pPr>
              <a:defRPr sz="1800"/>
            </a:pPr>
            <a:r>
              <a:t>          +----------------------+----------------------+</a:t>
            </a:r>
          </a:p>
          <a:p>
            <a:pPr>
              <a:defRPr sz="1800"/>
            </a:pPr>
            <a:r>
              <a:t>          |                      |                      |</a:t>
            </a:r>
          </a:p>
          <a:p>
            <a:pPr>
              <a:defRPr sz="1800"/>
            </a:pPr>
            <a:r>
              <a:t>   [Prediction Chain]      [Chat Agent]         [Analytics Chain]</a:t>
            </a:r>
          </a:p>
          <a:p>
            <a:pPr>
              <a:defRPr sz="1800"/>
            </a:pPr>
            <a:r>
              <a:t>          |                      |                      |</a:t>
            </a:r>
          </a:p>
          <a:p>
            <a:pPr>
              <a:defRPr sz="1800"/>
            </a:pPr>
            <a:r>
              <a:t>   +------+------+        +------+------+        +------+------+</a:t>
            </a:r>
          </a:p>
          <a:p>
            <a:pPr>
              <a:defRPr sz="1800"/>
            </a:pPr>
            <a:r>
              <a:t>   | Dataverse   |        |  ChromaDB   |        |   Pandas    |</a:t>
            </a:r>
          </a:p>
          <a:p>
            <a:pPr>
              <a:defRPr sz="1800"/>
            </a:pPr>
            <a:r>
              <a:t>   | (Live Data) |        | (Documents) |        | (Statistics)|</a:t>
            </a:r>
          </a:p>
          <a:p>
            <a:pPr>
              <a:defRPr sz="1800"/>
            </a:pPr>
            <a:r>
              <a:t>   +-------------+        +-------------+        +-------------+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Workflow: Prediction Chain (ReAct)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User Request -&gt; [Check Status]</a:t>
            </a:r>
          </a:p>
          <a:p>
            <a:pPr>
              <a:defRPr sz="1800"/>
            </a:pPr>
            <a:r>
              <a:t>                      |</a:t>
            </a:r>
          </a:p>
          <a:p>
            <a:pPr>
              <a:defRPr sz="1800"/>
            </a:pPr>
            <a:r>
              <a:t>              (Is Paid?) --YES--&gt; [STOP: Return PASS]</a:t>
            </a:r>
          </a:p>
          <a:p>
            <a:pPr>
              <a:defRPr sz="1800"/>
            </a:pPr>
            <a:r>
              <a:t>                      |</a:t>
            </a:r>
          </a:p>
          <a:p>
            <a:pPr>
              <a:defRPr sz="1800"/>
            </a:pPr>
            <a:r>
              <a:t>                     NO</a:t>
            </a:r>
          </a:p>
          <a:p>
            <a:pPr>
              <a:defRPr sz="1800"/>
            </a:pPr>
            <a:r>
              <a:t>                      |</a:t>
            </a:r>
          </a:p>
          <a:p>
            <a:pPr>
              <a:defRPr sz="1800"/>
            </a:pPr>
            <a:r>
              <a:t>          [Thought: Need more info]</a:t>
            </a:r>
          </a:p>
          <a:p>
            <a:pPr>
              <a:defRPr sz="1800"/>
            </a:pPr>
            <a:r>
              <a:t>                      |</a:t>
            </a:r>
          </a:p>
          <a:p>
            <a:pPr>
              <a:defRPr sz="1800"/>
            </a:pPr>
            <a:r>
              <a:t>          [Action: Fetch Service Lines]</a:t>
            </a:r>
          </a:p>
          <a:p>
            <a:pPr>
              <a:defRPr sz="1800"/>
            </a:pPr>
            <a:r>
              <a:t>                      |</a:t>
            </a:r>
          </a:p>
          <a:p>
            <a:pPr>
              <a:defRPr sz="1800"/>
            </a:pPr>
            <a:r>
              <a:t>          [Observation: $300 charge]</a:t>
            </a:r>
          </a:p>
          <a:p>
            <a:pPr>
              <a:defRPr sz="1800"/>
            </a:pPr>
            <a:r>
              <a:t>                      |</a:t>
            </a:r>
          </a:p>
          <a:p>
            <a:pPr>
              <a:defRPr sz="1800"/>
            </a:pPr>
            <a:r>
              <a:t>          [Thought: Check Historical]</a:t>
            </a:r>
          </a:p>
          <a:p>
            <a:pPr>
              <a:defRPr sz="1800"/>
            </a:pPr>
            <a:r>
              <a:t>                      |</a:t>
            </a:r>
          </a:p>
          <a:p>
            <a:pPr>
              <a:defRPr sz="1800"/>
            </a:pPr>
            <a:r>
              <a:t>          [Action: Fetch History]</a:t>
            </a:r>
          </a:p>
          <a:p>
            <a:pPr>
              <a:defRPr sz="1800"/>
            </a:pPr>
            <a:r>
              <a:t>                      |</a:t>
            </a:r>
          </a:p>
          <a:p>
            <a:pPr>
              <a:defRPr sz="1800"/>
            </a:pPr>
            <a:r>
              <a:t>          [Observation: Similar rejected]</a:t>
            </a:r>
          </a:p>
          <a:p>
            <a:pPr>
              <a:defRPr sz="1800"/>
            </a:pPr>
            <a:r>
              <a:t>                      |</a:t>
            </a:r>
          </a:p>
          <a:p>
            <a:pPr>
              <a:defRPr sz="1800"/>
            </a:pPr>
            <a:r>
              <a:t>          [FINAL ANSWER: FAIL Prediction]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Chain of Thought (CoT) Explained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The AI uses an internal monologue to reason before acting:</a:t>
            </a:r>
          </a:p>
          <a:p>
            <a:pPr>
              <a:defRPr sz="1800"/>
            </a:pPr>
            <a:r>
              <a:t>-------------------------------------------------------</a:t>
            </a:r>
          </a:p>
          <a:p>
            <a:pPr>
              <a:defRPr sz="1800"/>
            </a:pPr>
            <a:r>
              <a:t>THOUGHT: 'The user wants to analyze claim 123. First, I should check its current status to see if it's already processed.'</a:t>
            </a:r>
          </a:p>
          <a:p>
            <a:pPr>
              <a:defRPr sz="1800"/>
            </a:pPr>
            <a:r>
              <a:t>ACTION:  tool_call(get_claim_details, id='123')</a:t>
            </a:r>
          </a:p>
          <a:p>
            <a:pPr>
              <a:defRPr sz="1800"/>
            </a:pPr>
            <a:r>
              <a:t>OBSERVATION: {'status': 'Denied', 'error': 'Invalid Modifier'}</a:t>
            </a:r>
          </a:p>
          <a:p>
            <a:pPr>
              <a:defRPr sz="1800"/>
            </a:pPr>
            <a:r>
              <a:t>THOUGHT: 'It is denied for a modifier issue. I should check the service lines to see which code was used.'</a:t>
            </a:r>
          </a:p>
          <a:p>
            <a:pPr>
              <a:defRPr sz="1800"/>
            </a:pPr>
            <a:r>
              <a:t>ACTION:  tool_call(get_service_lines, id='123')</a:t>
            </a:r>
          </a:p>
          <a:p>
            <a:pPr>
              <a:defRPr sz="1800"/>
            </a:pPr>
            <a:r>
              <a:t>-------------------------------------------------------</a:t>
            </a:r>
          </a:p>
          <a:p>
            <a:pPr>
              <a:defRPr sz="1800"/>
            </a:pPr>
            <a:r>
              <a:t>This 'Show Your Work' approach allows humans to trust and verify the AI's logic.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